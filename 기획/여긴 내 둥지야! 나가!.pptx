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7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6" r:id="rId17"/>
    <p:sldId id="277" r:id="rId18"/>
    <p:sldId id="261" r:id="rId19"/>
    <p:sldId id="264" r:id="rId20"/>
    <p:sldId id="263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30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C0A43-C524-C78A-24F8-6A324972F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F292BE-5BF9-0515-B0D2-91CB35FEC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9A9B8-E653-DE7B-B0BF-DD07162D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DEFDD-D754-FDDD-C9C4-0CB613E4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86A5C6-954D-C360-FCEB-083D1E95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6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B5FBA767-92EE-5A4E-691D-0D93880CEC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356"/>
          <a:stretch>
            <a:fillRect/>
          </a:stretch>
        </p:blipFill>
        <p:spPr>
          <a:xfrm>
            <a:off x="0" y="-1"/>
            <a:ext cx="12192000" cy="49751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454B7-37DE-6BE5-1292-BC31C1ED9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5608"/>
            <a:ext cx="10515600" cy="55213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EB177-699F-FB3B-9D3C-780A1030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74ACC-7F8B-7434-B8D7-E5EB2591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E9EF31-83B4-47E2-DBB0-711C7E68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CD75BA-82EC-2DD1-BC99-CC4DBBF1A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97517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8920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F4D2F-988F-68A8-E314-B2EA7E418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99D900-97BC-18D6-12F7-E25501B1A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82030-E0D5-217A-CBB3-A9C852CE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10C78-D49B-86BC-F655-93EC3E2C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88A686-C05F-6C67-2518-903FDB42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B91E9-E490-2BDB-5E29-75C8B499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3E4D5-169E-6A30-078C-9B677EF8D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A071AA-C1A0-F24E-DCEF-B47B76B3A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C4CD1F-F1E1-A6DB-28DF-D051257C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1EDB66-BE41-E668-C024-507ACB6C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97DB6B-9259-8732-2AE8-6FAC6548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4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FDBAF-CBD1-A045-445B-4E9684A1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66D672-82D0-F577-37DE-01F67477A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96E1E4-D013-A064-6CAE-BCDBF1F93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44E682-8E0B-D7D0-9B4C-DE8E1E01A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FAD2C3-691C-779C-05DE-7FBCEB0FD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B82810-3CA6-B53E-5DB1-155355F3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4C3DFD-ABA7-AFF8-C110-0C28BB12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8F1FB7-0A59-DE04-A9E7-31221DBA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46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48513-D3CC-69D3-97D1-A132373B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74C550-D9AC-F76E-E21A-C3CD4498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1282C8-CF2C-92C5-8773-CAAB40A9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1C9794-4EDC-1890-9F8F-E550B9DE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362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5934E1-EBA7-5AF1-6410-9F657AB5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FD1345-D688-B89F-F9ED-17F3C387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1B241F-D3BE-630D-FA0E-E1D77DF6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9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509F9-0F12-B7E9-1413-70417FB7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803C3-E838-A92F-F12D-ECD08855B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B8109-AED7-FC7E-B172-C6C8049C5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0EE00-553A-6EAA-C5ED-A4808E51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9C25F7-5072-94CF-F246-3E166F4E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328F6C-20E3-EEA1-63D0-A1E5D9AF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96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62646-81C7-63BF-5DCE-88D23AF9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458AA5-BD5C-6163-C1E7-3C0390CFE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FAF31A-9B72-07B0-37EE-24838D084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773DFC-0406-1F20-E9AD-9640EB59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CA3D58-4728-4E5D-C943-7B1A1DB1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113F3F-7793-92A6-8E51-B0B52A07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38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0719F-523D-1A04-F296-B47AD618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F31CBC-CC92-2170-B79D-627B89ECD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216A0-02AD-27EF-CDD4-1F36E8D8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ABE06-956F-FD2A-157F-B8E5BEA7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6474D-2FDF-46F4-1EB8-05FF20CC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51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25C530-12CD-25B3-1514-5EECA1347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F262AA-DD05-9B29-9779-969E11CC0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50F00-EC60-A6F9-D949-9455FC91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7CB9C-CF3F-AC28-79F9-B8757825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4C88A3-6599-FC17-5529-9DB258CA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52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DFEC6E-43B4-7B39-9001-DD4137EA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1F3D13-1096-5FEA-738C-9A817C929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EBF402-BC85-4440-746F-FBE6B2CF9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C6B9A-4C7D-44EC-827A-99AAB4B671E1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1FB344-8586-F013-7676-EC7F6C5FC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FAF18-6A3C-D338-D7B1-48096DED5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2DB63-9B1B-4291-9D3B-7F1B772C1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13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9341E-272F-B309-07AA-E26F90D9F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여긴 내 둥지야</a:t>
            </a:r>
            <a:r>
              <a:rPr lang="en-US" altLang="ko-KR" dirty="0"/>
              <a:t>!</a:t>
            </a:r>
            <a:r>
              <a:rPr lang="ko-KR" altLang="en-US" dirty="0"/>
              <a:t> 나가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601680-BA25-8B99-58A8-B87E096CE4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아이디어 기획서</a:t>
            </a:r>
          </a:p>
        </p:txBody>
      </p:sp>
    </p:spTree>
    <p:extLst>
      <p:ext uri="{BB962C8B-B14F-4D97-AF65-F5344CB8AC3E}">
        <p14:creationId xmlns:p14="http://schemas.microsoft.com/office/powerpoint/2010/main" val="3322344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B7DE8C-A5C9-B8A2-940F-28694C06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개요</a:t>
            </a:r>
            <a:endParaRPr lang="en-US" altLang="ko-KR" dirty="0"/>
          </a:p>
          <a:p>
            <a:r>
              <a:rPr lang="ko-KR" altLang="en-US" dirty="0"/>
              <a:t>캐릭터</a:t>
            </a:r>
            <a:endParaRPr lang="en-US" altLang="ko-KR" dirty="0"/>
          </a:p>
          <a:p>
            <a:r>
              <a:rPr lang="ko-KR" altLang="en-US" dirty="0"/>
              <a:t>몬스터</a:t>
            </a:r>
            <a:endParaRPr lang="en-US" altLang="ko-KR" dirty="0"/>
          </a:p>
          <a:p>
            <a:r>
              <a:rPr lang="ko-KR" altLang="en-US" dirty="0"/>
              <a:t>전투 흐름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156EC93-E498-8B84-7993-360D9BE4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20488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A86C45C-7B3B-A0D1-E7A1-B2EC14000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222848"/>
              </p:ext>
            </p:extLst>
          </p:nvPr>
        </p:nvGraphicFramePr>
        <p:xfrm>
          <a:off x="838200" y="655638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043886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82843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102966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8166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게임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여긴 내 둥지야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!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나가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0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장르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디펜스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플랫폼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6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게임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둥지로 침입해 오는 적들을 섬멸해 자신의 보금자리를 지킨다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105296"/>
                  </a:ext>
                </a:extLst>
              </a:tr>
            </a:tbl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1BA3794D-EFEA-682B-1A01-226287EF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개임 개요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D6F54-5BE0-A127-617C-DB385643FC2D}"/>
              </a:ext>
            </a:extLst>
          </p:cNvPr>
          <p:cNvSpPr txBox="1"/>
          <p:nvPr/>
        </p:nvSpPr>
        <p:spPr>
          <a:xfrm>
            <a:off x="838200" y="2013527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게임 특징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D12FA-2241-7105-BC33-A9C36AD92869}"/>
              </a:ext>
            </a:extLst>
          </p:cNvPr>
          <p:cNvSpPr txBox="1"/>
          <p:nvPr/>
        </p:nvSpPr>
        <p:spPr>
          <a:xfrm>
            <a:off x="838200" y="2382859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▶ 다양한 적의 직업군에 따른 적들의 조합에 맞춰 달라지는 다양한 전투 스타일</a:t>
            </a:r>
            <a:endParaRPr lang="en-US" altLang="ko-KR" sz="1400" dirty="0"/>
          </a:p>
          <a:p>
            <a:r>
              <a:rPr lang="ko-KR" altLang="en-US" sz="1400" dirty="0"/>
              <a:t>▶ 디펜스이지만 적의 공격을 회피해야 하는 전투</a:t>
            </a: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75EB3E-F421-AC6F-F7FD-DD37FF432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86" b="18653"/>
          <a:stretch>
            <a:fillRect/>
          </a:stretch>
        </p:blipFill>
        <p:spPr>
          <a:xfrm>
            <a:off x="3282372" y="3133437"/>
            <a:ext cx="5627255" cy="35317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071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E28F883-FA2D-8C32-0377-25AB1D1B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B3FBDA-0185-B442-CE7E-4766DEF1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2550515"/>
            <a:ext cx="4216399" cy="42163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9D3050-87AC-2FB1-D4BE-48D401E86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69" b="93750" l="9961" r="89844">
                        <a14:foregroundMark x1="33105" y1="9180" x2="33105" y2="9180"/>
                        <a14:foregroundMark x1="47852" y1="7715" x2="47852" y2="7715"/>
                        <a14:foregroundMark x1="50391" y1="92480" x2="50879" y2="91309"/>
                        <a14:foregroundMark x1="41016" y1="93359" x2="42773" y2="93066"/>
                        <a14:foregroundMark x1="50391" y1="93750" x2="52441" y2="93555"/>
                        <a14:foregroundMark x1="62695" y1="7031" x2="62695" y2="7031"/>
                        <a14:foregroundMark x1="42285" y1="6836" x2="42285" y2="6836"/>
                        <a14:foregroundMark x1="51074" y1="7031" x2="51074" y2="7031"/>
                        <a14:foregroundMark x1="46680" y1="6152" x2="46680" y2="6152"/>
                        <a14:foregroundMark x1="61816" y1="5469" x2="61816" y2="546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2" y="2550514"/>
            <a:ext cx="4216399" cy="4216399"/>
          </a:xfrm>
          <a:prstGeom prst="rect">
            <a:avLst/>
          </a:prstGeom>
        </p:spPr>
      </p:pic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D76332B8-18F5-0432-B6F2-5EDF30D45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7400" y="2209907"/>
            <a:ext cx="4216398" cy="34060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/>
              <a:t>드래곤 폼</a:t>
            </a:r>
            <a:r>
              <a:rPr lang="en-US" altLang="ko-KR" sz="1600" b="1" dirty="0"/>
              <a:t>(</a:t>
            </a:r>
            <a:r>
              <a:rPr lang="ko-KR" altLang="en-US" sz="1600" b="1" dirty="0" err="1"/>
              <a:t>필살기</a:t>
            </a:r>
            <a:r>
              <a:rPr lang="ko-KR" altLang="en-US" sz="1600" b="1" dirty="0"/>
              <a:t> 모션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580591C4-34F7-BB4B-9BA6-41173A11129A}"/>
              </a:ext>
            </a:extLst>
          </p:cNvPr>
          <p:cNvSpPr txBox="1">
            <a:spLocks/>
          </p:cNvSpPr>
          <p:nvPr/>
        </p:nvSpPr>
        <p:spPr>
          <a:xfrm>
            <a:off x="838203" y="2209907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인간 폼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디폴트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A9A185F-EC50-AB2A-563E-F76CECD99723}"/>
              </a:ext>
            </a:extLst>
          </p:cNvPr>
          <p:cNvSpPr/>
          <p:nvPr/>
        </p:nvSpPr>
        <p:spPr>
          <a:xfrm>
            <a:off x="5606796" y="3878411"/>
            <a:ext cx="978408" cy="4846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1BC81C0-92F3-9475-7398-DEF8DF1FB8A5}"/>
              </a:ext>
            </a:extLst>
          </p:cNvPr>
          <p:cNvSpPr/>
          <p:nvPr/>
        </p:nvSpPr>
        <p:spPr>
          <a:xfrm flipH="1">
            <a:off x="5606796" y="4671430"/>
            <a:ext cx="978408" cy="4846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D96002-7583-556B-7B30-8B774B94F929}"/>
              </a:ext>
            </a:extLst>
          </p:cNvPr>
          <p:cNvSpPr txBox="1">
            <a:spLocks/>
          </p:cNvSpPr>
          <p:nvPr/>
        </p:nvSpPr>
        <p:spPr>
          <a:xfrm>
            <a:off x="3987802" y="3537804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400" b="1" dirty="0" err="1"/>
              <a:t>폴리모프</a:t>
            </a:r>
            <a:endParaRPr lang="ko-KR" altLang="en-US" sz="1400" b="1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9F1DCA28-F222-09F3-485A-2E0F5FD4359F}"/>
              </a:ext>
            </a:extLst>
          </p:cNvPr>
          <p:cNvSpPr txBox="1">
            <a:spLocks/>
          </p:cNvSpPr>
          <p:nvPr/>
        </p:nvSpPr>
        <p:spPr>
          <a:xfrm>
            <a:off x="838202" y="655637"/>
            <a:ext cx="10515595" cy="226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400" dirty="0"/>
              <a:t>전투 중 기본적으로 인간 폼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필살기</a:t>
            </a:r>
            <a:r>
              <a:rPr lang="ko-KR" altLang="en-US" sz="1400" dirty="0"/>
              <a:t> 사용 중에만 드래곤 폼으로 전투한다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56755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7A24-4BAD-0515-1EF5-045C9091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19AAC50-F55A-15D4-2A95-59B70FAC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9095C3E3-A260-13C8-1C0D-D603789B7F1E}"/>
              </a:ext>
            </a:extLst>
          </p:cNvPr>
          <p:cNvSpPr txBox="1">
            <a:spLocks/>
          </p:cNvSpPr>
          <p:nvPr/>
        </p:nvSpPr>
        <p:spPr>
          <a:xfrm>
            <a:off x="838202" y="655637"/>
            <a:ext cx="10515595" cy="226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400" dirty="0"/>
              <a:t>전투 중 웨이브 종료마다 선택지를 골라 강화</a:t>
            </a:r>
            <a:endParaRPr lang="en-US" altLang="ko-KR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190D1C-4050-3D34-B766-EE0F0B556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09" y="1039523"/>
            <a:ext cx="9037782" cy="50837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962E4C7-71FF-7CB6-EA1A-B2ABBB42BB99}"/>
              </a:ext>
            </a:extLst>
          </p:cNvPr>
          <p:cNvSpPr/>
          <p:nvPr/>
        </p:nvSpPr>
        <p:spPr>
          <a:xfrm>
            <a:off x="4789055" y="1327727"/>
            <a:ext cx="2613890" cy="4202545"/>
          </a:xfrm>
          <a:prstGeom prst="rect">
            <a:avLst/>
          </a:prstGeom>
          <a:solidFill>
            <a:schemeClr val="accent5">
              <a:lumMod val="60000"/>
              <a:lumOff val="40000"/>
              <a:alpha val="7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7E09E8-1F15-FDC7-08A2-5F0D486D462D}"/>
              </a:ext>
            </a:extLst>
          </p:cNvPr>
          <p:cNvSpPr/>
          <p:nvPr/>
        </p:nvSpPr>
        <p:spPr>
          <a:xfrm>
            <a:off x="7701973" y="1327727"/>
            <a:ext cx="2613890" cy="4202545"/>
          </a:xfrm>
          <a:prstGeom prst="rect">
            <a:avLst/>
          </a:prstGeom>
          <a:solidFill>
            <a:schemeClr val="accent5">
              <a:lumMod val="60000"/>
              <a:lumOff val="40000"/>
              <a:alpha val="7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BC90BD-E0C0-166A-E3B8-668EF43B80EB}"/>
              </a:ext>
            </a:extLst>
          </p:cNvPr>
          <p:cNvSpPr/>
          <p:nvPr/>
        </p:nvSpPr>
        <p:spPr>
          <a:xfrm>
            <a:off x="1876137" y="1327727"/>
            <a:ext cx="2613890" cy="4202545"/>
          </a:xfrm>
          <a:prstGeom prst="rect">
            <a:avLst/>
          </a:prstGeom>
          <a:solidFill>
            <a:schemeClr val="accent5">
              <a:lumMod val="60000"/>
              <a:lumOff val="40000"/>
              <a:alpha val="7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0AD12D-D282-56F6-8A9C-1DF5F33C1D6E}"/>
              </a:ext>
            </a:extLst>
          </p:cNvPr>
          <p:cNvSpPr/>
          <p:nvPr/>
        </p:nvSpPr>
        <p:spPr>
          <a:xfrm>
            <a:off x="4987636" y="1520318"/>
            <a:ext cx="2216727" cy="1686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460C86-1DD6-6CD9-B65A-7C120E49CFB9}"/>
              </a:ext>
            </a:extLst>
          </p:cNvPr>
          <p:cNvSpPr/>
          <p:nvPr/>
        </p:nvSpPr>
        <p:spPr>
          <a:xfrm>
            <a:off x="2074718" y="1520318"/>
            <a:ext cx="2216727" cy="1686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B95FC1-8B8A-F3CD-458A-F02961DB7AAE}"/>
              </a:ext>
            </a:extLst>
          </p:cNvPr>
          <p:cNvSpPr/>
          <p:nvPr/>
        </p:nvSpPr>
        <p:spPr>
          <a:xfrm>
            <a:off x="7900554" y="1520318"/>
            <a:ext cx="2216727" cy="1686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04EB7-71AB-C4D1-EA64-4357B07164FD}"/>
              </a:ext>
            </a:extLst>
          </p:cNvPr>
          <p:cNvSpPr txBox="1"/>
          <p:nvPr/>
        </p:nvSpPr>
        <p:spPr>
          <a:xfrm>
            <a:off x="2074718" y="3436890"/>
            <a:ext cx="2216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설명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1E555-567E-BF2A-BE8F-CEC630F9C315}"/>
              </a:ext>
            </a:extLst>
          </p:cNvPr>
          <p:cNvSpPr txBox="1"/>
          <p:nvPr/>
        </p:nvSpPr>
        <p:spPr>
          <a:xfrm>
            <a:off x="4987635" y="3436890"/>
            <a:ext cx="2216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설명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5B072-BA52-872A-22AA-9EA212807ECA}"/>
              </a:ext>
            </a:extLst>
          </p:cNvPr>
          <p:cNvSpPr txBox="1"/>
          <p:nvPr/>
        </p:nvSpPr>
        <p:spPr>
          <a:xfrm>
            <a:off x="7900554" y="3436890"/>
            <a:ext cx="2216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설명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210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CF86-0C9C-2DE4-2714-311DFA14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DE05FFE-11F3-3B2A-72FF-AA058A4F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몬스터</a:t>
            </a:r>
          </a:p>
        </p:txBody>
      </p:sp>
      <p:pic>
        <p:nvPicPr>
          <p:cNvPr id="2050" name="Picture 2" descr="Task result for 0">
            <a:extLst>
              <a:ext uri="{FF2B5EF4-FFF2-40B4-BE49-F238E27FC236}">
                <a16:creationId xmlns:a16="http://schemas.microsoft.com/office/drawing/2014/main" id="{357BBBCE-C4D4-8C14-6D11-9EB2895C1D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3" b="30236"/>
          <a:stretch>
            <a:fillRect/>
          </a:stretch>
        </p:blipFill>
        <p:spPr bwMode="auto">
          <a:xfrm>
            <a:off x="1075380" y="2055017"/>
            <a:ext cx="10041240" cy="396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A04842-493F-32F4-2B8F-F11EDD7A4494}"/>
              </a:ext>
            </a:extLst>
          </p:cNvPr>
          <p:cNvSpPr txBox="1">
            <a:spLocks/>
          </p:cNvSpPr>
          <p:nvPr/>
        </p:nvSpPr>
        <p:spPr>
          <a:xfrm>
            <a:off x="838202" y="655637"/>
            <a:ext cx="10515595" cy="226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400" dirty="0"/>
              <a:t>적의 종류에는 크게 근접 딜러</a:t>
            </a:r>
            <a:r>
              <a:rPr lang="en-US" altLang="ko-KR" sz="1400" dirty="0"/>
              <a:t>, </a:t>
            </a:r>
            <a:r>
              <a:rPr lang="ko-KR" altLang="en-US" sz="1400" dirty="0"/>
              <a:t>원거리 딜러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힐러</a:t>
            </a:r>
            <a:r>
              <a:rPr lang="en-US" altLang="ko-KR" sz="1400" dirty="0"/>
              <a:t>, </a:t>
            </a:r>
            <a:r>
              <a:rPr lang="ko-KR" altLang="en-US" sz="1400" dirty="0"/>
              <a:t>탱커</a:t>
            </a:r>
            <a:r>
              <a:rPr lang="en-US" altLang="ko-KR" sz="1400" dirty="0"/>
              <a:t>, </a:t>
            </a:r>
            <a:r>
              <a:rPr lang="ko-KR" altLang="en-US" sz="1400" dirty="0"/>
              <a:t>버퍼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디버퍼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리바이버가</a:t>
            </a:r>
            <a:r>
              <a:rPr lang="ko-KR" altLang="en-US" sz="1400" dirty="0"/>
              <a:t> 존재한다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각 직업군들의 조합에 따라 적들의 공격 패턴이 달라지게 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(ex. </a:t>
            </a:r>
            <a:r>
              <a:rPr lang="ko-KR" altLang="en-US" sz="1400" dirty="0" err="1"/>
              <a:t>딜딜딜</a:t>
            </a:r>
            <a:r>
              <a:rPr lang="ko-KR" altLang="en-US" sz="1400" dirty="0"/>
              <a:t> 조합 </a:t>
            </a:r>
            <a:r>
              <a:rPr lang="en-US" altLang="ko-KR" sz="1400" dirty="0"/>
              <a:t>– </a:t>
            </a:r>
            <a:r>
              <a:rPr lang="ko-KR" altLang="en-US" sz="1400" dirty="0"/>
              <a:t>이동하며 공격만을 반복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탱딜힐</a:t>
            </a:r>
            <a:r>
              <a:rPr lang="ko-KR" altLang="en-US" sz="1400" dirty="0"/>
              <a:t> 조합 </a:t>
            </a:r>
            <a:r>
              <a:rPr lang="en-US" altLang="ko-KR" sz="1400" dirty="0"/>
              <a:t>– </a:t>
            </a:r>
            <a:r>
              <a:rPr lang="ko-KR" altLang="en-US" sz="1400" dirty="0"/>
              <a:t>탱커는 아군 앞에서 공격을 막고 </a:t>
            </a:r>
            <a:r>
              <a:rPr lang="ko-KR" altLang="en-US" sz="1400" dirty="0" err="1"/>
              <a:t>힐러는</a:t>
            </a:r>
            <a:r>
              <a:rPr lang="ko-KR" altLang="en-US" sz="1400" dirty="0"/>
              <a:t> 체력이 가장 부족한 아군에게 힐을 주며 딜러는 탱커 뒤에서 공격을 한다</a:t>
            </a:r>
            <a:r>
              <a:rPr lang="en-US" altLang="ko-KR" sz="1400" dirty="0"/>
              <a:t>.)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670B32BA-BE8C-0452-2140-345609702643}"/>
              </a:ext>
            </a:extLst>
          </p:cNvPr>
          <p:cNvSpPr txBox="1">
            <a:spLocks/>
          </p:cNvSpPr>
          <p:nvPr/>
        </p:nvSpPr>
        <p:spPr>
          <a:xfrm>
            <a:off x="0" y="2055017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근접 딜러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345AAA31-1EC2-B258-DEE8-60AF79CCF3B4}"/>
              </a:ext>
            </a:extLst>
          </p:cNvPr>
          <p:cNvSpPr txBox="1">
            <a:spLocks/>
          </p:cNvSpPr>
          <p:nvPr/>
        </p:nvSpPr>
        <p:spPr>
          <a:xfrm>
            <a:off x="1450109" y="6017418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원거리 딜러</a:t>
            </a: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1743DF10-FBCA-48A9-C6FB-1FF4344BC75B}"/>
              </a:ext>
            </a:extLst>
          </p:cNvPr>
          <p:cNvSpPr txBox="1">
            <a:spLocks/>
          </p:cNvSpPr>
          <p:nvPr/>
        </p:nvSpPr>
        <p:spPr>
          <a:xfrm>
            <a:off x="2946401" y="2055017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 err="1"/>
              <a:t>힐러</a:t>
            </a:r>
            <a:endParaRPr lang="ko-KR" altLang="en-US" sz="1600" b="1" dirty="0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D9E5F559-ABF9-AB66-A393-C056914C9806}"/>
              </a:ext>
            </a:extLst>
          </p:cNvPr>
          <p:cNvSpPr txBox="1">
            <a:spLocks/>
          </p:cNvSpPr>
          <p:nvPr/>
        </p:nvSpPr>
        <p:spPr>
          <a:xfrm>
            <a:off x="4417296" y="6017418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탱커</a:t>
            </a:r>
          </a:p>
        </p:txBody>
      </p:sp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6640A292-809A-CB81-8204-6C3392805352}"/>
              </a:ext>
            </a:extLst>
          </p:cNvPr>
          <p:cNvSpPr txBox="1">
            <a:spLocks/>
          </p:cNvSpPr>
          <p:nvPr/>
        </p:nvSpPr>
        <p:spPr>
          <a:xfrm>
            <a:off x="5791201" y="2055017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버퍼</a:t>
            </a:r>
          </a:p>
        </p:txBody>
      </p:sp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0B9FC7B6-E257-6158-6908-E8C16629E1E7}"/>
              </a:ext>
            </a:extLst>
          </p:cNvPr>
          <p:cNvSpPr txBox="1">
            <a:spLocks/>
          </p:cNvSpPr>
          <p:nvPr/>
        </p:nvSpPr>
        <p:spPr>
          <a:xfrm>
            <a:off x="6762673" y="6017418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 err="1"/>
              <a:t>디버퍼</a:t>
            </a:r>
            <a:endParaRPr lang="ko-KR" altLang="en-US" sz="1600" b="1" dirty="0"/>
          </a:p>
        </p:txBody>
      </p: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EF78594F-5384-A4B9-37BD-4A63091FDE1E}"/>
              </a:ext>
            </a:extLst>
          </p:cNvPr>
          <p:cNvSpPr txBox="1">
            <a:spLocks/>
          </p:cNvSpPr>
          <p:nvPr/>
        </p:nvSpPr>
        <p:spPr>
          <a:xfrm>
            <a:off x="8072583" y="2055017"/>
            <a:ext cx="4216398" cy="34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 err="1"/>
              <a:t>리바이버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0106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F72C-24A0-6572-4AB2-42E2811B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BBC4539-B6B8-5D15-0330-E02B1FB0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진형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882E440-761D-5FA8-40B0-0EA025C5A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484787"/>
              </p:ext>
            </p:extLst>
          </p:nvPr>
        </p:nvGraphicFramePr>
        <p:xfrm>
          <a:off x="2856000" y="729000"/>
          <a:ext cx="648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95409924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84885603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최후방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95842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후방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63091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전방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1982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전방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62737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최전방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782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35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356A-F68D-3EE5-85BC-A6DE5A7D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E0F5BF6-CC9A-C562-4D01-276E69B6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근접 딜러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3984A4-FAA4-4AD3-E065-A332B84F7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2603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대기 중인 경우 전방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직후에는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초간 최전방에 위치하며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초가 흐른 후 다시 공격 대기 상태가 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.(y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공격은 좌측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우측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중간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개의 방향으로 공격을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직후 공격한 방향으로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탱커의 방패가 활성화 되어 있을 경우 공격 대기 상태로 돌아갈 때 방패 뒤로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4BE4BAB2-162F-A167-E9F1-0A631680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4" y="1128867"/>
            <a:ext cx="1636134" cy="136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8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DDCAE-D307-80CF-703F-24D66FF5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89D1A39-1BB8-00E4-2F23-677766DAE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60112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대기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직후 상관 없이 후방에 위치한다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공격은 좌측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우측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중간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개의 방향으로 공격을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 직후 공격한 방향들의 중간 위치로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탱커의 방패가 활성화 되어 있을 경우 공격 대기 상태로 돌아갈 때 방패 뒤로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120EEB2A-FA36-404E-FEBD-6080B5F8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3" y="1128866"/>
            <a:ext cx="1636135" cy="136472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6C83E30-080D-7355-01AD-25FB38BF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원거리 딜러</a:t>
            </a:r>
          </a:p>
        </p:txBody>
      </p:sp>
    </p:spTree>
    <p:extLst>
      <p:ext uri="{BB962C8B-B14F-4D97-AF65-F5344CB8AC3E}">
        <p14:creationId xmlns:p14="http://schemas.microsoft.com/office/powerpoint/2010/main" val="3315378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E768F-2402-7D54-F269-4241731A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D040F6C-AD05-14B0-6972-401ACFED3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836412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방패가 비활성화일 경우 제자리에 가만히 있는다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방패가 활성화일 경우 자신을 기준으로 좌우의 캐릭터 수를 비교하여 더 많은 아군 캐릭터가 있는 방향으로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명 이상인 경우 배치 공간의 넓이를 탱커의 숫자만큼 나눈 후 각 공간에 배치하여 각 공간 내에 존재하는 아군을 기준으로 위에 서술한 이동을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단 이동 공간은 배치된 공간에 한한다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EAB342E6-AEF7-7929-D89B-7B46917E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2" y="1128867"/>
            <a:ext cx="1636135" cy="136472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0EED501A-729C-60F1-69F0-E74D2693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탱커</a:t>
            </a:r>
          </a:p>
        </p:txBody>
      </p:sp>
    </p:spTree>
    <p:extLst>
      <p:ext uri="{BB962C8B-B14F-4D97-AF65-F5344CB8AC3E}">
        <p14:creationId xmlns:p14="http://schemas.microsoft.com/office/powerpoint/2010/main" val="356352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467F-D069-310C-59DC-CD60A68B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4728997-7520-8EB9-F3AD-5F87FD0D6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779904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제자리에 가만히 있으며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자신을 제외한 남은 아군의 체력이 떨어질 경우 가장 체력이 낮은 캐릭터에게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쿨타임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마다 회복을 걸어준다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탱커의 방패가 활성화 되어 있을 경우 방패 뒤로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BB4E97C0-C5F0-4747-36A6-76BF05A04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3" y="1128867"/>
            <a:ext cx="1636134" cy="136472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BD2936E8-A1CC-7344-7C9C-FB925CE7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힐러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486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F21A-EAAA-83AA-A16F-1BB1AE05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C2CC41D-8718-B9DB-4AC8-648C293DC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901094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제자리에 가만히 있으며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근접딜러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원거리딜러에겐 공격력 혹은 공격 시간 단축 버프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탱커에겐 방패 내구도 증가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혹은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방패 내구도 회복 속도 단축 버프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힐러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리바이버에겐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쿨타임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감소 버프를 건다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탱커의 방패가 활성화 되어 있을 경우 방패 뒤로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813718C-B482-0B53-4D69-74E873BFB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3" y="1128867"/>
            <a:ext cx="1636134" cy="136472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BF3AD80F-F30A-D8E9-8E78-6FBD6834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버퍼</a:t>
            </a:r>
          </a:p>
        </p:txBody>
      </p:sp>
    </p:spTree>
    <p:extLst>
      <p:ext uri="{BB962C8B-B14F-4D97-AF65-F5344CB8AC3E}">
        <p14:creationId xmlns:p14="http://schemas.microsoft.com/office/powerpoint/2010/main" val="239151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823D-951A-EF79-9691-1758309D5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0B24DC2-BF18-CAFF-D887-B7D98EF1E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557820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제자리에 가만히 있으며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공격력 감소 혹은 방어력 감소 혹은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브레스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에너지 회복 시간 지연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디버프를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건다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탱커의 방패가 활성화 되어 있을 경우 방패 뒤로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F3F17C5B-F5E1-EC8D-F4E3-3B716506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3" y="1128867"/>
            <a:ext cx="1636134" cy="136472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AB25DDF5-520D-B30E-2F65-DAC65956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디버퍼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576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AA3F-C358-C938-9C89-23B65048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712D521-88F1-3799-31D8-97430ED34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430277"/>
              </p:ext>
            </p:extLst>
          </p:nvPr>
        </p:nvGraphicFramePr>
        <p:xfrm>
          <a:off x="1057563" y="719666"/>
          <a:ext cx="10076874" cy="589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437">
                  <a:extLst>
                    <a:ext uri="{9D8B030D-6E8A-4147-A177-3AD203B41FA5}">
                      <a16:colId xmlns:a16="http://schemas.microsoft.com/office/drawing/2014/main" val="3882444377"/>
                    </a:ext>
                  </a:extLst>
                </a:gridCol>
                <a:gridCol w="5038437">
                  <a:extLst>
                    <a:ext uri="{9D8B030D-6E8A-4147-A177-3AD203B41FA5}">
                      <a16:colId xmlns:a16="http://schemas.microsoft.com/office/drawing/2014/main" val="4022718121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4187"/>
                  </a:ext>
                </a:extLst>
              </a:tr>
              <a:tr h="1482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86764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96401"/>
                  </a:ext>
                </a:extLst>
              </a:tr>
              <a:tr h="36909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제자리에 가만히 있으며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사망한 캐릭터가 존재할 경우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힐러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근접딜러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원거리딜러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디버퍼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순으로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쿨타임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마다 캐릭터를 부활시킨다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같은 포지션일 경우 먼저 사망한 순으로 부활 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탱커의 방패가 활성화 되어 있을 경우 방패 뒤로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.(x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0246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B8D60C43-71DC-4ABF-1B02-F186B8B82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3" y="1128867"/>
            <a:ext cx="1636134" cy="136472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D2CBD54-42A8-3A2F-B10B-0C9F4F74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리바이버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17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8163-C5ED-A9E3-2E98-70505977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B727BC74-2DB5-242D-EFB3-C66113C17353}"/>
              </a:ext>
            </a:extLst>
          </p:cNvPr>
          <p:cNvSpPr/>
          <p:nvPr/>
        </p:nvSpPr>
        <p:spPr>
          <a:xfrm>
            <a:off x="7909792" y="3396032"/>
            <a:ext cx="914400" cy="1293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17FC52-3EB7-F3F3-0942-8FDB2E7833FA}"/>
              </a:ext>
            </a:extLst>
          </p:cNvPr>
          <p:cNvSpPr/>
          <p:nvPr/>
        </p:nvSpPr>
        <p:spPr>
          <a:xfrm>
            <a:off x="8769928" y="5713969"/>
            <a:ext cx="914400" cy="1293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5CF880-FE51-4DD0-91DE-5C2D5AF3DF29}"/>
              </a:ext>
            </a:extLst>
          </p:cNvPr>
          <p:cNvSpPr/>
          <p:nvPr/>
        </p:nvSpPr>
        <p:spPr>
          <a:xfrm>
            <a:off x="7049656" y="5713969"/>
            <a:ext cx="914400" cy="1293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113BCBB-0545-8CD1-4638-0B78FFF3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캐릭터 공격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2B4F568-764E-367B-35EE-9D86A012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9036" y="1626879"/>
            <a:ext cx="4216399" cy="421639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4B3EF46A-9D06-13D9-F6EE-13257063260C}"/>
              </a:ext>
            </a:extLst>
          </p:cNvPr>
          <p:cNvSpPr/>
          <p:nvPr/>
        </p:nvSpPr>
        <p:spPr>
          <a:xfrm>
            <a:off x="8071428" y="3648362"/>
            <a:ext cx="591128" cy="591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5D2CE2-D0F7-F835-684C-0C36D51ED711}"/>
              </a:ext>
            </a:extLst>
          </p:cNvPr>
          <p:cNvSpPr/>
          <p:nvPr/>
        </p:nvSpPr>
        <p:spPr>
          <a:xfrm>
            <a:off x="8071428" y="4239490"/>
            <a:ext cx="591128" cy="13577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전방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2F21092-0D38-EC28-51A4-ACF030109A11}"/>
              </a:ext>
            </a:extLst>
          </p:cNvPr>
          <p:cNvSpPr/>
          <p:nvPr/>
        </p:nvSpPr>
        <p:spPr>
          <a:xfrm>
            <a:off x="10651836" y="3648362"/>
            <a:ext cx="591128" cy="59112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D1CE6C-C72C-A28F-C7D5-07C3ED89811A}"/>
              </a:ext>
            </a:extLst>
          </p:cNvPr>
          <p:cNvSpPr/>
          <p:nvPr/>
        </p:nvSpPr>
        <p:spPr>
          <a:xfrm>
            <a:off x="10651836" y="4239490"/>
            <a:ext cx="591128" cy="1357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최후방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7462A70-6F8E-31B5-7EED-C636E106CCF2}"/>
              </a:ext>
            </a:extLst>
          </p:cNvPr>
          <p:cNvSpPr/>
          <p:nvPr/>
        </p:nvSpPr>
        <p:spPr>
          <a:xfrm>
            <a:off x="9791700" y="3648362"/>
            <a:ext cx="591128" cy="59112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F9557B-8A31-E96F-B73F-CF9E48442190}"/>
              </a:ext>
            </a:extLst>
          </p:cNvPr>
          <p:cNvSpPr/>
          <p:nvPr/>
        </p:nvSpPr>
        <p:spPr>
          <a:xfrm>
            <a:off x="9791700" y="4239490"/>
            <a:ext cx="591128" cy="13577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후방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A7E0703-E7D8-E78C-9B8E-1B3E3123F256}"/>
              </a:ext>
            </a:extLst>
          </p:cNvPr>
          <p:cNvSpPr/>
          <p:nvPr/>
        </p:nvSpPr>
        <p:spPr>
          <a:xfrm>
            <a:off x="8931564" y="3648362"/>
            <a:ext cx="591128" cy="591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A04062-5A31-CE5E-DE4E-FA76242D8B29}"/>
              </a:ext>
            </a:extLst>
          </p:cNvPr>
          <p:cNvSpPr/>
          <p:nvPr/>
        </p:nvSpPr>
        <p:spPr>
          <a:xfrm>
            <a:off x="8931564" y="4239490"/>
            <a:ext cx="591128" cy="13577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전방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3531B9C-6777-A3B1-DC09-707CDBE4C737}"/>
              </a:ext>
            </a:extLst>
          </p:cNvPr>
          <p:cNvSpPr/>
          <p:nvPr/>
        </p:nvSpPr>
        <p:spPr>
          <a:xfrm>
            <a:off x="7211292" y="3648362"/>
            <a:ext cx="591128" cy="59112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C4D050-5E6B-8550-699D-84B37B778A95}"/>
              </a:ext>
            </a:extLst>
          </p:cNvPr>
          <p:cNvSpPr/>
          <p:nvPr/>
        </p:nvSpPr>
        <p:spPr>
          <a:xfrm>
            <a:off x="7211292" y="4239490"/>
            <a:ext cx="591128" cy="13577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최전방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85E135-EFD1-60A7-B611-EC6104DD0E00}"/>
              </a:ext>
            </a:extLst>
          </p:cNvPr>
          <p:cNvSpPr/>
          <p:nvPr/>
        </p:nvSpPr>
        <p:spPr>
          <a:xfrm>
            <a:off x="6788726" y="2872509"/>
            <a:ext cx="153558" cy="27247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1F602D-B47E-F2C7-2A14-19543F855229}"/>
              </a:ext>
            </a:extLst>
          </p:cNvPr>
          <p:cNvSpPr/>
          <p:nvPr/>
        </p:nvSpPr>
        <p:spPr>
          <a:xfrm>
            <a:off x="7049656" y="5713969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1FB437-FAEB-061A-A7E7-BA20B9729EB1}"/>
              </a:ext>
            </a:extLst>
          </p:cNvPr>
          <p:cNvSpPr/>
          <p:nvPr/>
        </p:nvSpPr>
        <p:spPr>
          <a:xfrm>
            <a:off x="7909792" y="3396032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B2E1AE-DF10-F0F4-029E-33DA22B11816}"/>
              </a:ext>
            </a:extLst>
          </p:cNvPr>
          <p:cNvSpPr/>
          <p:nvPr/>
        </p:nvSpPr>
        <p:spPr>
          <a:xfrm>
            <a:off x="8769928" y="5713969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9A91526A-B076-086C-038F-ECB3839C2E75}"/>
              </a:ext>
            </a:extLst>
          </p:cNvPr>
          <p:cNvSpPr/>
          <p:nvPr/>
        </p:nvSpPr>
        <p:spPr>
          <a:xfrm>
            <a:off x="4269093" y="2648542"/>
            <a:ext cx="5253599" cy="2948693"/>
          </a:xfrm>
          <a:prstGeom prst="triangle">
            <a:avLst>
              <a:gd name="adj" fmla="val 0"/>
            </a:avLst>
          </a:pr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6B57DC-BA27-14AB-DBEF-52870D9E4F2B}"/>
              </a:ext>
            </a:extLst>
          </p:cNvPr>
          <p:cNvSpPr txBox="1"/>
          <p:nvPr/>
        </p:nvSpPr>
        <p:spPr>
          <a:xfrm>
            <a:off x="838201" y="618645"/>
            <a:ext cx="1051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브레스</a:t>
            </a:r>
            <a:r>
              <a:rPr lang="en-US" altLang="ko-KR" sz="1400" dirty="0"/>
              <a:t> : </a:t>
            </a:r>
            <a:r>
              <a:rPr lang="ko-KR" altLang="en-US" sz="1400" b="1" dirty="0"/>
              <a:t>최전방 </a:t>
            </a:r>
            <a:r>
              <a:rPr lang="en-US" altLang="ko-KR" sz="1400" b="1" dirty="0"/>
              <a:t>~ </a:t>
            </a:r>
            <a:r>
              <a:rPr lang="ko-KR" altLang="en-US" sz="1400" b="1" dirty="0"/>
              <a:t>전방</a:t>
            </a:r>
            <a:r>
              <a:rPr lang="en-US" altLang="ko-KR" sz="1400" b="1" dirty="0"/>
              <a:t>2</a:t>
            </a:r>
            <a:r>
              <a:rPr lang="ko-KR" altLang="en-US" sz="1400" dirty="0"/>
              <a:t>를 </a:t>
            </a:r>
            <a:r>
              <a:rPr lang="ko-KR" altLang="en-US" sz="1400" b="1" dirty="0"/>
              <a:t>범위</a:t>
            </a:r>
            <a:r>
              <a:rPr lang="ko-KR" altLang="en-US" sz="1400" dirty="0"/>
              <a:t>를 공격할 수 있는 범위형 공격으로 </a:t>
            </a:r>
            <a:r>
              <a:rPr lang="ko-KR" altLang="en-US" sz="1400" b="1" dirty="0"/>
              <a:t>탱커의 방패에 막힌다</a:t>
            </a:r>
            <a:r>
              <a:rPr lang="en-US" altLang="ko-KR" sz="1400" dirty="0"/>
              <a:t>.(</a:t>
            </a:r>
            <a:r>
              <a:rPr lang="ko-KR" altLang="en-US" sz="1400" dirty="0"/>
              <a:t>에너지를 서서히 소모하며 사용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E908C05B-A514-E732-7CCC-DB4997EEC72E}"/>
              </a:ext>
            </a:extLst>
          </p:cNvPr>
          <p:cNvSpPr/>
          <p:nvPr/>
        </p:nvSpPr>
        <p:spPr>
          <a:xfrm>
            <a:off x="4269093" y="2648542"/>
            <a:ext cx="2519633" cy="2948693"/>
          </a:xfrm>
          <a:prstGeom prst="triangle">
            <a:avLst>
              <a:gd name="adj" fmla="val 0"/>
            </a:avLst>
          </a:pr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C77D9E9-5938-0F02-98CB-5FDCCA279937}"/>
              </a:ext>
            </a:extLst>
          </p:cNvPr>
          <p:cNvSpPr/>
          <p:nvPr/>
        </p:nvSpPr>
        <p:spPr>
          <a:xfrm>
            <a:off x="6788725" y="1289743"/>
            <a:ext cx="1126807" cy="1133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20A3C1-E23A-4742-6D2D-04C866DF3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88726" y="1289742"/>
            <a:ext cx="1126808" cy="1133766"/>
          </a:xfrm>
          <a:prstGeom prst="rect">
            <a:avLst/>
          </a:prstGeom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9F1EFFC8-6E61-F72D-3C78-8F742D46B3F1}"/>
              </a:ext>
            </a:extLst>
          </p:cNvPr>
          <p:cNvSpPr/>
          <p:nvPr/>
        </p:nvSpPr>
        <p:spPr>
          <a:xfrm>
            <a:off x="6787864" y="1289741"/>
            <a:ext cx="1127668" cy="1133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FBEB88E5-2868-995A-2054-A4091BF4ED49}"/>
              </a:ext>
            </a:extLst>
          </p:cNvPr>
          <p:cNvSpPr/>
          <p:nvPr/>
        </p:nvSpPr>
        <p:spPr>
          <a:xfrm>
            <a:off x="8522892" y="1616171"/>
            <a:ext cx="978408" cy="4846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92606820-05A6-ED9E-5A0D-6AB421BC24EF}"/>
              </a:ext>
            </a:extLst>
          </p:cNvPr>
          <p:cNvSpPr/>
          <p:nvPr/>
        </p:nvSpPr>
        <p:spPr>
          <a:xfrm>
            <a:off x="10116155" y="1289747"/>
            <a:ext cx="1126807" cy="1133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림 59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D0ABA9-9E80-1EEB-8C81-1E2CBC6B0D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t="15903"/>
          <a:stretch>
            <a:fillRect/>
          </a:stretch>
        </p:blipFill>
        <p:spPr>
          <a:xfrm>
            <a:off x="10116156" y="1434360"/>
            <a:ext cx="1126808" cy="989152"/>
          </a:xfrm>
          <a:prstGeom prst="rect">
            <a:avLst/>
          </a:prstGeom>
        </p:spPr>
      </p:pic>
      <p:pic>
        <p:nvPicPr>
          <p:cNvPr id="61" name="그림 60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596360-8171-70C1-9BCB-CDF985C0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27"/>
          <a:stretch>
            <a:fillRect/>
          </a:stretch>
        </p:blipFill>
        <p:spPr>
          <a:xfrm>
            <a:off x="10116154" y="1602777"/>
            <a:ext cx="1126808" cy="814877"/>
          </a:xfrm>
          <a:prstGeom prst="rect">
            <a:avLst/>
          </a:prstGeom>
        </p:spPr>
      </p:pic>
      <p:sp>
        <p:nvSpPr>
          <p:cNvPr id="62" name="타원 61">
            <a:extLst>
              <a:ext uri="{FF2B5EF4-FFF2-40B4-BE49-F238E27FC236}">
                <a16:creationId xmlns:a16="http://schemas.microsoft.com/office/drawing/2014/main" id="{CA92EFBB-4973-DF18-D235-1C9C7D694F9C}"/>
              </a:ext>
            </a:extLst>
          </p:cNvPr>
          <p:cNvSpPr/>
          <p:nvPr/>
        </p:nvSpPr>
        <p:spPr>
          <a:xfrm>
            <a:off x="10115294" y="1289745"/>
            <a:ext cx="1127668" cy="1133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611A74-0B76-7FF4-57D0-4686A97AF89D}"/>
              </a:ext>
            </a:extLst>
          </p:cNvPr>
          <p:cNvSpPr/>
          <p:nvPr/>
        </p:nvSpPr>
        <p:spPr>
          <a:xfrm>
            <a:off x="6418921" y="2647988"/>
            <a:ext cx="914400" cy="1293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CE4DE49-682C-5226-179D-D31AA4C95DFB}"/>
              </a:ext>
            </a:extLst>
          </p:cNvPr>
          <p:cNvSpPr/>
          <p:nvPr/>
        </p:nvSpPr>
        <p:spPr>
          <a:xfrm>
            <a:off x="6418921" y="2647988"/>
            <a:ext cx="752764" cy="129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66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4DA17-D211-8E6A-5679-F5B87FDE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F5CC090-4354-38C8-57E5-6B282151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캐릭터 공격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439186F-932E-AD8A-D5F7-00A538AFA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9036" y="1626879"/>
            <a:ext cx="4216399" cy="421639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421C0FF1-F2BA-BEBB-0496-E87CBCCAB95F}"/>
              </a:ext>
            </a:extLst>
          </p:cNvPr>
          <p:cNvSpPr/>
          <p:nvPr/>
        </p:nvSpPr>
        <p:spPr>
          <a:xfrm>
            <a:off x="8071428" y="3648362"/>
            <a:ext cx="591128" cy="591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A1B0A9-A0A6-9459-00A9-8070B594A045}"/>
              </a:ext>
            </a:extLst>
          </p:cNvPr>
          <p:cNvSpPr/>
          <p:nvPr/>
        </p:nvSpPr>
        <p:spPr>
          <a:xfrm>
            <a:off x="8071428" y="4239490"/>
            <a:ext cx="591128" cy="13577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전방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5FBC4BE-7C56-27FA-8486-2389E4526A20}"/>
              </a:ext>
            </a:extLst>
          </p:cNvPr>
          <p:cNvSpPr/>
          <p:nvPr/>
        </p:nvSpPr>
        <p:spPr>
          <a:xfrm>
            <a:off x="10651836" y="3648362"/>
            <a:ext cx="591128" cy="59112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15D20A-CD22-2F79-9DEE-D7AF0AAC65F2}"/>
              </a:ext>
            </a:extLst>
          </p:cNvPr>
          <p:cNvSpPr/>
          <p:nvPr/>
        </p:nvSpPr>
        <p:spPr>
          <a:xfrm>
            <a:off x="10651836" y="4239490"/>
            <a:ext cx="591128" cy="1357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최후방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80156C6-4236-FB5F-4F5C-0F69E3211AD2}"/>
              </a:ext>
            </a:extLst>
          </p:cNvPr>
          <p:cNvSpPr/>
          <p:nvPr/>
        </p:nvSpPr>
        <p:spPr>
          <a:xfrm>
            <a:off x="9791700" y="3648362"/>
            <a:ext cx="591128" cy="59112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6CC5A6-02F0-CD4E-0A68-EC113CFDBCB8}"/>
              </a:ext>
            </a:extLst>
          </p:cNvPr>
          <p:cNvSpPr/>
          <p:nvPr/>
        </p:nvSpPr>
        <p:spPr>
          <a:xfrm>
            <a:off x="9791700" y="4239490"/>
            <a:ext cx="591128" cy="13577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후방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FB0A3FE-5D1D-D53E-DA0B-747385109732}"/>
              </a:ext>
            </a:extLst>
          </p:cNvPr>
          <p:cNvSpPr/>
          <p:nvPr/>
        </p:nvSpPr>
        <p:spPr>
          <a:xfrm>
            <a:off x="8931564" y="3648362"/>
            <a:ext cx="591128" cy="591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204079-CE3C-1CEC-DF6F-AC92E746EC42}"/>
              </a:ext>
            </a:extLst>
          </p:cNvPr>
          <p:cNvSpPr/>
          <p:nvPr/>
        </p:nvSpPr>
        <p:spPr>
          <a:xfrm>
            <a:off x="8931564" y="4239490"/>
            <a:ext cx="591128" cy="13577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전방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031C740-39AB-1901-E1CB-2A0F19E7527E}"/>
              </a:ext>
            </a:extLst>
          </p:cNvPr>
          <p:cNvSpPr/>
          <p:nvPr/>
        </p:nvSpPr>
        <p:spPr>
          <a:xfrm>
            <a:off x="7211292" y="3648362"/>
            <a:ext cx="591128" cy="59112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F034FD-9544-52B6-BF55-2A82F047311E}"/>
              </a:ext>
            </a:extLst>
          </p:cNvPr>
          <p:cNvSpPr/>
          <p:nvPr/>
        </p:nvSpPr>
        <p:spPr>
          <a:xfrm>
            <a:off x="7211292" y="4239490"/>
            <a:ext cx="591128" cy="13577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최전방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7AC919-7903-11D2-351D-73276C57BC26}"/>
              </a:ext>
            </a:extLst>
          </p:cNvPr>
          <p:cNvSpPr/>
          <p:nvPr/>
        </p:nvSpPr>
        <p:spPr>
          <a:xfrm>
            <a:off x="6418921" y="2647988"/>
            <a:ext cx="914400" cy="1293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C9E444-3969-B0B0-3EF2-E648C5E1294D}"/>
              </a:ext>
            </a:extLst>
          </p:cNvPr>
          <p:cNvSpPr/>
          <p:nvPr/>
        </p:nvSpPr>
        <p:spPr>
          <a:xfrm>
            <a:off x="10490200" y="5713969"/>
            <a:ext cx="914400" cy="1293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74844D5-67AA-6E7C-C445-802EB6601F1E}"/>
              </a:ext>
            </a:extLst>
          </p:cNvPr>
          <p:cNvSpPr/>
          <p:nvPr/>
        </p:nvSpPr>
        <p:spPr>
          <a:xfrm>
            <a:off x="9802029" y="4156300"/>
            <a:ext cx="1440935" cy="1440935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B3F39-B33B-7401-9049-8103C25A5CF2}"/>
              </a:ext>
            </a:extLst>
          </p:cNvPr>
          <p:cNvSpPr txBox="1"/>
          <p:nvPr/>
        </p:nvSpPr>
        <p:spPr>
          <a:xfrm>
            <a:off x="838201" y="618645"/>
            <a:ext cx="1051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파이어볼</a:t>
            </a:r>
            <a:r>
              <a:rPr lang="en-US" altLang="ko-KR" sz="1400" dirty="0"/>
              <a:t> : </a:t>
            </a:r>
            <a:r>
              <a:rPr lang="ko-KR" altLang="en-US" sz="1400" b="1" dirty="0"/>
              <a:t>후방 </a:t>
            </a:r>
            <a:r>
              <a:rPr lang="en-US" altLang="ko-KR" sz="1400" b="1" dirty="0"/>
              <a:t>~ </a:t>
            </a:r>
            <a:r>
              <a:rPr lang="ko-KR" altLang="en-US" sz="1400" b="1" dirty="0"/>
              <a:t>최후방</a:t>
            </a:r>
            <a:r>
              <a:rPr lang="ko-KR" altLang="en-US" sz="1400" dirty="0"/>
              <a:t>을 </a:t>
            </a:r>
            <a:r>
              <a:rPr lang="ko-KR" altLang="en-US" sz="1400" b="1" dirty="0"/>
              <a:t>범위</a:t>
            </a:r>
            <a:r>
              <a:rPr lang="ko-KR" altLang="en-US" sz="1400" dirty="0"/>
              <a:t>를 공격할 수 있는 범위형 공격으로 </a:t>
            </a:r>
            <a:r>
              <a:rPr lang="ko-KR" altLang="en-US" sz="1400" b="1" dirty="0"/>
              <a:t>탱커의 방패에 막힌다</a:t>
            </a:r>
            <a:r>
              <a:rPr lang="en-US" altLang="ko-KR" sz="1400" dirty="0"/>
              <a:t>.(</a:t>
            </a:r>
            <a:r>
              <a:rPr lang="ko-KR" altLang="en-US" sz="1400" dirty="0"/>
              <a:t>에너지를 한 번에 소모하며 사용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ED91E03-79DF-0885-26A6-15080A7B460D}"/>
              </a:ext>
            </a:extLst>
          </p:cNvPr>
          <p:cNvSpPr/>
          <p:nvPr/>
        </p:nvSpPr>
        <p:spPr>
          <a:xfrm>
            <a:off x="5345454" y="2872509"/>
            <a:ext cx="1440935" cy="1440935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DC5F693-DC3A-EF59-9AA2-5361252CB8BE}"/>
              </a:ext>
            </a:extLst>
          </p:cNvPr>
          <p:cNvSpPr/>
          <p:nvPr/>
        </p:nvSpPr>
        <p:spPr>
          <a:xfrm>
            <a:off x="6788726" y="2872509"/>
            <a:ext cx="153558" cy="27247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DB2935-80AE-92E6-8D61-1ABB94618B3C}"/>
              </a:ext>
            </a:extLst>
          </p:cNvPr>
          <p:cNvSpPr/>
          <p:nvPr/>
        </p:nvSpPr>
        <p:spPr>
          <a:xfrm>
            <a:off x="6418921" y="2647988"/>
            <a:ext cx="752764" cy="129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36CD6DF-5B8B-74EF-ABE3-238420CAAB59}"/>
              </a:ext>
            </a:extLst>
          </p:cNvPr>
          <p:cNvSpPr/>
          <p:nvPr/>
        </p:nvSpPr>
        <p:spPr>
          <a:xfrm>
            <a:off x="10490200" y="5713969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9DC637A-4D86-A051-B173-24EEEF7B90FA}"/>
              </a:ext>
            </a:extLst>
          </p:cNvPr>
          <p:cNvSpPr/>
          <p:nvPr/>
        </p:nvSpPr>
        <p:spPr>
          <a:xfrm>
            <a:off x="6788725" y="1289743"/>
            <a:ext cx="1126807" cy="1133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29DA8A-65A7-EC73-0991-D29F6234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88726" y="1289742"/>
            <a:ext cx="1126808" cy="1133766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E8EF7BE5-A9FF-501D-8670-452CDE263410}"/>
              </a:ext>
            </a:extLst>
          </p:cNvPr>
          <p:cNvSpPr/>
          <p:nvPr/>
        </p:nvSpPr>
        <p:spPr>
          <a:xfrm>
            <a:off x="6787864" y="1289741"/>
            <a:ext cx="1127668" cy="1133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91E8D3-BB8F-609E-EC05-5E893FDC637D}"/>
              </a:ext>
            </a:extLst>
          </p:cNvPr>
          <p:cNvSpPr/>
          <p:nvPr/>
        </p:nvSpPr>
        <p:spPr>
          <a:xfrm>
            <a:off x="8522892" y="1616171"/>
            <a:ext cx="978408" cy="4846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D233420-C1C3-E2A6-FA1F-79932DBB263B}"/>
              </a:ext>
            </a:extLst>
          </p:cNvPr>
          <p:cNvSpPr/>
          <p:nvPr/>
        </p:nvSpPr>
        <p:spPr>
          <a:xfrm>
            <a:off x="10116155" y="1289747"/>
            <a:ext cx="1126807" cy="1133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94930B-3C9E-D885-93C5-DEE24C9E6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27"/>
          <a:stretch>
            <a:fillRect/>
          </a:stretch>
        </p:blipFill>
        <p:spPr>
          <a:xfrm>
            <a:off x="10116154" y="1602777"/>
            <a:ext cx="1126808" cy="814877"/>
          </a:xfrm>
          <a:prstGeom prst="rect">
            <a:avLst/>
          </a:prstGeom>
        </p:spPr>
      </p:pic>
      <p:sp>
        <p:nvSpPr>
          <p:cNvPr id="51" name="타원 50">
            <a:extLst>
              <a:ext uri="{FF2B5EF4-FFF2-40B4-BE49-F238E27FC236}">
                <a16:creationId xmlns:a16="http://schemas.microsoft.com/office/drawing/2014/main" id="{D09C7310-7907-E2A3-0EC3-14B8166A68EA}"/>
              </a:ext>
            </a:extLst>
          </p:cNvPr>
          <p:cNvSpPr/>
          <p:nvPr/>
        </p:nvSpPr>
        <p:spPr>
          <a:xfrm>
            <a:off x="10115294" y="1289745"/>
            <a:ext cx="1127668" cy="1133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560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9B1F0-B651-4602-C8C2-CD69D6CF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타원 21">
            <a:extLst>
              <a:ext uri="{FF2B5EF4-FFF2-40B4-BE49-F238E27FC236}">
                <a16:creationId xmlns:a16="http://schemas.microsoft.com/office/drawing/2014/main" id="{5648414A-826E-2D71-8ABF-85C8F46606B6}"/>
              </a:ext>
            </a:extLst>
          </p:cNvPr>
          <p:cNvSpPr/>
          <p:nvPr/>
        </p:nvSpPr>
        <p:spPr>
          <a:xfrm>
            <a:off x="6534150" y="5372100"/>
            <a:ext cx="5276850" cy="471178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243DA0-304F-4A4F-9B63-4253228E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캐릭터 공격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4C1EBD-FC67-508F-0F46-DDDEC96B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9036" y="1626879"/>
            <a:ext cx="4216399" cy="421639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7FDDDF06-6721-EFF7-1F05-172C37A4CA4B}"/>
              </a:ext>
            </a:extLst>
          </p:cNvPr>
          <p:cNvSpPr/>
          <p:nvPr/>
        </p:nvSpPr>
        <p:spPr>
          <a:xfrm>
            <a:off x="8071428" y="3648362"/>
            <a:ext cx="591128" cy="591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F12E3F-BF73-1A1E-2CCC-78E367EDAC7D}"/>
              </a:ext>
            </a:extLst>
          </p:cNvPr>
          <p:cNvSpPr/>
          <p:nvPr/>
        </p:nvSpPr>
        <p:spPr>
          <a:xfrm>
            <a:off x="8071428" y="4239490"/>
            <a:ext cx="591128" cy="13577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전방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68362B-2769-3C0D-A817-6B0AA13EB924}"/>
              </a:ext>
            </a:extLst>
          </p:cNvPr>
          <p:cNvSpPr/>
          <p:nvPr/>
        </p:nvSpPr>
        <p:spPr>
          <a:xfrm>
            <a:off x="10651836" y="3648362"/>
            <a:ext cx="591128" cy="59112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5DD8CF-8222-8DFA-947C-0F062F3F50AB}"/>
              </a:ext>
            </a:extLst>
          </p:cNvPr>
          <p:cNvSpPr/>
          <p:nvPr/>
        </p:nvSpPr>
        <p:spPr>
          <a:xfrm>
            <a:off x="10651836" y="4239490"/>
            <a:ext cx="591128" cy="1357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최후방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9DB1589-C211-9B1C-FA8A-A804DFDAE72A}"/>
              </a:ext>
            </a:extLst>
          </p:cNvPr>
          <p:cNvSpPr/>
          <p:nvPr/>
        </p:nvSpPr>
        <p:spPr>
          <a:xfrm>
            <a:off x="9791700" y="3648362"/>
            <a:ext cx="591128" cy="59112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30112A-D080-BAF9-C2A0-C67A90081772}"/>
              </a:ext>
            </a:extLst>
          </p:cNvPr>
          <p:cNvSpPr/>
          <p:nvPr/>
        </p:nvSpPr>
        <p:spPr>
          <a:xfrm>
            <a:off x="9791700" y="4239490"/>
            <a:ext cx="591128" cy="13577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후방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59E1A36-05A4-D659-021A-EC030D57764A}"/>
              </a:ext>
            </a:extLst>
          </p:cNvPr>
          <p:cNvSpPr/>
          <p:nvPr/>
        </p:nvSpPr>
        <p:spPr>
          <a:xfrm>
            <a:off x="8931564" y="3648362"/>
            <a:ext cx="591128" cy="5911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D7CF13-8EDF-EDEA-B985-15454B6B0A41}"/>
              </a:ext>
            </a:extLst>
          </p:cNvPr>
          <p:cNvSpPr/>
          <p:nvPr/>
        </p:nvSpPr>
        <p:spPr>
          <a:xfrm>
            <a:off x="8931564" y="4239490"/>
            <a:ext cx="591128" cy="13577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전방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4CC1C11-6E2A-AC93-85F7-B1EB9E991C4E}"/>
              </a:ext>
            </a:extLst>
          </p:cNvPr>
          <p:cNvSpPr/>
          <p:nvPr/>
        </p:nvSpPr>
        <p:spPr>
          <a:xfrm>
            <a:off x="7211292" y="3648362"/>
            <a:ext cx="591128" cy="59112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8B21D0-D67A-2035-CCF4-BB6ECDC4C667}"/>
              </a:ext>
            </a:extLst>
          </p:cNvPr>
          <p:cNvSpPr/>
          <p:nvPr/>
        </p:nvSpPr>
        <p:spPr>
          <a:xfrm>
            <a:off x="7211292" y="4239490"/>
            <a:ext cx="591128" cy="13577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최전방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925DC0-F7D5-96B7-D291-F07754121EF6}"/>
              </a:ext>
            </a:extLst>
          </p:cNvPr>
          <p:cNvSpPr/>
          <p:nvPr/>
        </p:nvSpPr>
        <p:spPr>
          <a:xfrm>
            <a:off x="9630064" y="3396032"/>
            <a:ext cx="914400" cy="1293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C3C5BD-7851-435C-5268-0535BF3D9AC6}"/>
              </a:ext>
            </a:extLst>
          </p:cNvPr>
          <p:cNvSpPr/>
          <p:nvPr/>
        </p:nvSpPr>
        <p:spPr>
          <a:xfrm>
            <a:off x="10490200" y="5713969"/>
            <a:ext cx="914400" cy="1293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71309-776C-A88E-101F-CB75762878FB}"/>
              </a:ext>
            </a:extLst>
          </p:cNvPr>
          <p:cNvSpPr txBox="1"/>
          <p:nvPr/>
        </p:nvSpPr>
        <p:spPr>
          <a:xfrm>
            <a:off x="838201" y="618645"/>
            <a:ext cx="10515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화염 필드</a:t>
            </a:r>
            <a:r>
              <a:rPr lang="en-US" altLang="ko-KR" sz="1400" dirty="0"/>
              <a:t>(</a:t>
            </a:r>
            <a:r>
              <a:rPr lang="ko-KR" altLang="en-US" sz="1400" dirty="0" err="1"/>
              <a:t>궁극기</a:t>
            </a:r>
            <a:r>
              <a:rPr lang="en-US" altLang="ko-KR" sz="1400" dirty="0"/>
              <a:t>) : </a:t>
            </a:r>
            <a:r>
              <a:rPr lang="ko-KR" altLang="en-US" sz="1400" b="1" dirty="0"/>
              <a:t>최전방 </a:t>
            </a:r>
            <a:r>
              <a:rPr lang="en-US" altLang="ko-KR" sz="1400" b="1" dirty="0"/>
              <a:t>~ </a:t>
            </a:r>
            <a:r>
              <a:rPr lang="ko-KR" altLang="en-US" sz="1400" b="1" dirty="0"/>
              <a:t>최후방</a:t>
            </a:r>
            <a:r>
              <a:rPr lang="ko-KR" altLang="en-US" sz="1400" dirty="0"/>
              <a:t>을 </a:t>
            </a:r>
            <a:r>
              <a:rPr lang="ko-KR" altLang="en-US" sz="1400" b="1" dirty="0"/>
              <a:t>범위</a:t>
            </a:r>
            <a:r>
              <a:rPr lang="ko-KR" altLang="en-US" sz="1400" dirty="0"/>
              <a:t>를 공격할 수 있는 범위형 공격으로 </a:t>
            </a:r>
            <a:r>
              <a:rPr lang="ko-KR" altLang="en-US" sz="1400" b="1" dirty="0"/>
              <a:t>탱커의 방패에 막히지 않는다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 err="1"/>
              <a:t>쿨타임마다</a:t>
            </a:r>
            <a:r>
              <a:rPr lang="ko-KR" altLang="en-US" sz="1400" dirty="0"/>
              <a:t> 사용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D27F9A8-F15D-BBA6-79A7-B62B7672C50F}"/>
              </a:ext>
            </a:extLst>
          </p:cNvPr>
          <p:cNvSpPr/>
          <p:nvPr/>
        </p:nvSpPr>
        <p:spPr>
          <a:xfrm>
            <a:off x="6788726" y="2872509"/>
            <a:ext cx="153558" cy="27247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F8F8611-23D2-14ED-E060-DF8465EDEDFA}"/>
              </a:ext>
            </a:extLst>
          </p:cNvPr>
          <p:cNvSpPr/>
          <p:nvPr/>
        </p:nvSpPr>
        <p:spPr>
          <a:xfrm>
            <a:off x="9630064" y="3396032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380FCB6-961F-9E99-480F-7C37D98B00AC}"/>
              </a:ext>
            </a:extLst>
          </p:cNvPr>
          <p:cNvSpPr/>
          <p:nvPr/>
        </p:nvSpPr>
        <p:spPr>
          <a:xfrm>
            <a:off x="10490200" y="5713969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F58E23-468A-09B8-21AE-84A112222877}"/>
              </a:ext>
            </a:extLst>
          </p:cNvPr>
          <p:cNvSpPr/>
          <p:nvPr/>
        </p:nvSpPr>
        <p:spPr>
          <a:xfrm>
            <a:off x="7909792" y="3396032"/>
            <a:ext cx="914400" cy="1293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1DC471-BD93-C448-9C4F-F569C69B7D5C}"/>
              </a:ext>
            </a:extLst>
          </p:cNvPr>
          <p:cNvSpPr/>
          <p:nvPr/>
        </p:nvSpPr>
        <p:spPr>
          <a:xfrm>
            <a:off x="8769928" y="5713969"/>
            <a:ext cx="914400" cy="1293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0BF0CA-9485-1091-639C-608B880733CE}"/>
              </a:ext>
            </a:extLst>
          </p:cNvPr>
          <p:cNvSpPr/>
          <p:nvPr/>
        </p:nvSpPr>
        <p:spPr>
          <a:xfrm>
            <a:off x="7049656" y="5713969"/>
            <a:ext cx="914400" cy="1293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CF5C61-CC97-C1F0-1B37-8A907BC2AB84}"/>
              </a:ext>
            </a:extLst>
          </p:cNvPr>
          <p:cNvSpPr/>
          <p:nvPr/>
        </p:nvSpPr>
        <p:spPr>
          <a:xfrm>
            <a:off x="7049656" y="5713969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A8C291-0FB4-4D39-29C5-0FA4076279B3}"/>
              </a:ext>
            </a:extLst>
          </p:cNvPr>
          <p:cNvSpPr/>
          <p:nvPr/>
        </p:nvSpPr>
        <p:spPr>
          <a:xfrm>
            <a:off x="7909792" y="3396032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99D80A2-10FD-4A55-A274-21C5A5D1FF43}"/>
              </a:ext>
            </a:extLst>
          </p:cNvPr>
          <p:cNvSpPr/>
          <p:nvPr/>
        </p:nvSpPr>
        <p:spPr>
          <a:xfrm>
            <a:off x="8769928" y="5713969"/>
            <a:ext cx="752764" cy="129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D936A036-2E49-49D7-CC6D-B3C5179311D9}"/>
              </a:ext>
            </a:extLst>
          </p:cNvPr>
          <p:cNvSpPr/>
          <p:nvPr/>
        </p:nvSpPr>
        <p:spPr>
          <a:xfrm>
            <a:off x="6788725" y="1289743"/>
            <a:ext cx="1126807" cy="1133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2E9C10-3E6C-6973-8875-ADBEC6DA7E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88726" y="1289742"/>
            <a:ext cx="1126808" cy="1133766"/>
          </a:xfrm>
          <a:prstGeom prst="rect">
            <a:avLst/>
          </a:prstGeom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A06C4394-9022-6613-E4EC-A51F3B7A1059}"/>
              </a:ext>
            </a:extLst>
          </p:cNvPr>
          <p:cNvSpPr/>
          <p:nvPr/>
        </p:nvSpPr>
        <p:spPr>
          <a:xfrm>
            <a:off x="6787864" y="1289741"/>
            <a:ext cx="1127668" cy="1133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6FBF78ED-279B-F6C9-C64D-8D63C3417D94}"/>
              </a:ext>
            </a:extLst>
          </p:cNvPr>
          <p:cNvSpPr/>
          <p:nvPr/>
        </p:nvSpPr>
        <p:spPr>
          <a:xfrm>
            <a:off x="8522892" y="1616171"/>
            <a:ext cx="978408" cy="4846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008BA1B-6FBF-1ADE-FEA4-E7384044D0FD}"/>
              </a:ext>
            </a:extLst>
          </p:cNvPr>
          <p:cNvSpPr/>
          <p:nvPr/>
        </p:nvSpPr>
        <p:spPr>
          <a:xfrm>
            <a:off x="10116155" y="1289747"/>
            <a:ext cx="1126807" cy="1133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250C52-AC64-03A4-7C1D-D169A2EF32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16154" y="1283889"/>
            <a:ext cx="1126808" cy="113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76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25F6-CF92-8A5C-E7FD-EF17CB3E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16F96FD-3290-373F-6C82-B712289D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전투</a:t>
            </a:r>
          </a:p>
        </p:txBody>
      </p:sp>
      <p:sp>
        <p:nvSpPr>
          <p:cNvPr id="2" name="AutoShape 2" descr=" 이미지">
            <a:extLst>
              <a:ext uri="{FF2B5EF4-FFF2-40B4-BE49-F238E27FC236}">
                <a16:creationId xmlns:a16="http://schemas.microsoft.com/office/drawing/2014/main" id="{F98FD385-0355-9E4F-9DD4-94EAEA8CF3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7A4F19-2E0F-AFA3-9C5B-763A05202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09" y="1039523"/>
            <a:ext cx="9037782" cy="50837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618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531E-CB5A-D58E-C835-7D8826E7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14C8C28-721F-2F48-9CD8-F76BA3DE1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09" y="1039523"/>
            <a:ext cx="9037782" cy="50837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3CE5182-1891-5525-7360-228B6448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전투</a:t>
            </a:r>
          </a:p>
        </p:txBody>
      </p:sp>
      <p:sp>
        <p:nvSpPr>
          <p:cNvPr id="2" name="AutoShape 2" descr=" 이미지">
            <a:extLst>
              <a:ext uri="{FF2B5EF4-FFF2-40B4-BE49-F238E27FC236}">
                <a16:creationId xmlns:a16="http://schemas.microsoft.com/office/drawing/2014/main" id="{B8EE9929-25D6-2F25-F0E4-481FD3B8B1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135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EF9A-A7B7-9820-548C-D097FF59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271D1E4-AF3C-726A-3757-F49C7B5A9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09" y="1039523"/>
            <a:ext cx="9037782" cy="50837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0D04054-5E77-DEB1-BB49-CCD311DB2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전투</a:t>
            </a:r>
          </a:p>
        </p:txBody>
      </p:sp>
      <p:sp>
        <p:nvSpPr>
          <p:cNvPr id="2" name="AutoShape 2" descr=" 이미지">
            <a:extLst>
              <a:ext uri="{FF2B5EF4-FFF2-40B4-BE49-F238E27FC236}">
                <a16:creationId xmlns:a16="http://schemas.microsoft.com/office/drawing/2014/main" id="{F977216A-98D7-0A88-945C-AF9A14257B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590ADE-2F2B-9777-7EC2-A1E77EC41085}"/>
              </a:ext>
            </a:extLst>
          </p:cNvPr>
          <p:cNvSpPr/>
          <p:nvPr/>
        </p:nvSpPr>
        <p:spPr>
          <a:xfrm>
            <a:off x="5394960" y="5208876"/>
            <a:ext cx="914400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76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654</Words>
  <Application>Microsoft Office PowerPoint</Application>
  <PresentationFormat>와이드스크린</PresentationFormat>
  <Paragraphs>125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여긴 내 둥지야! 나가!</vt:lpstr>
      <vt:lpstr>목차</vt:lpstr>
      <vt:lpstr>개임 개요</vt:lpstr>
      <vt:lpstr>캐릭터</vt:lpstr>
      <vt:lpstr>강화</vt:lpstr>
      <vt:lpstr>몬스터</vt:lpstr>
      <vt:lpstr>진형</vt:lpstr>
      <vt:lpstr>근접 딜러</vt:lpstr>
      <vt:lpstr>원거리 딜러</vt:lpstr>
      <vt:lpstr>탱커</vt:lpstr>
      <vt:lpstr>힐러</vt:lpstr>
      <vt:lpstr>버퍼</vt:lpstr>
      <vt:lpstr>디버퍼</vt:lpstr>
      <vt:lpstr>리바이버</vt:lpstr>
      <vt:lpstr>캐릭터 공격</vt:lpstr>
      <vt:lpstr>캐릭터 공격</vt:lpstr>
      <vt:lpstr>캐릭터 공격</vt:lpstr>
      <vt:lpstr>전투</vt:lpstr>
      <vt:lpstr>전투</vt:lpstr>
      <vt:lpstr>전투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휘건 오</dc:creator>
  <cp:lastModifiedBy>휘건 오</cp:lastModifiedBy>
  <cp:revision>73</cp:revision>
  <dcterms:created xsi:type="dcterms:W3CDTF">2025-12-10T10:42:41Z</dcterms:created>
  <dcterms:modified xsi:type="dcterms:W3CDTF">2026-01-16T10:20:19Z</dcterms:modified>
</cp:coreProperties>
</file>